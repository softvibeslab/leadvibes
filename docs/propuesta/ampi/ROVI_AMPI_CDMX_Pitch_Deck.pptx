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rowser_screenshot_bf3ae2ff02454291b9e3ad9f82985b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074920" cy="162278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92240" y="502920"/>
            <a:ext cx="5074920" cy="2862072"/>
          </a:xfrm>
          <a:prstGeom prst="rect">
            <a:avLst/>
          </a:prstGeom>
          <a:solidFill>
            <a:srgbClr val="0A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594360"/>
            <a:ext cx="2331720" cy="347472"/>
          </a:xfrm>
          <a:prstGeom prst="round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67512"/>
            <a:ext cx="2148839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PROPUESTA ESTRATÉGICA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585216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 Display"/>
              </a:rPr>
              <a:t>ROVI AMPI CDMX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993392"/>
            <a:ext cx="539496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90E2BE"/>
                </a:solidFill>
                <a:latin typeface="Aptos"/>
              </a:rPr>
              <a:t>Sistema operativo para asociaciones inmobiliarias modernas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788920"/>
            <a:ext cx="512064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solidFill>
                  <a:srgbClr val="F8F5EC"/>
                </a:solidFill>
                <a:latin typeface="Aptos"/>
              </a:rPr>
              <a:t>De presencia institucional a operación medible: afiliación, eventos, directorio, propiedades, pagos, comunicación y reportes para consejo.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206240"/>
            <a:ext cx="5166360" cy="960120"/>
          </a:xfrm>
          <a:prstGeom prst="roundRect">
            <a:avLst/>
          </a:prstGeom>
          <a:solidFill>
            <a:srgbClr val="122530"/>
          </a:solidFill>
          <a:ln w="12700">
            <a:solidFill>
              <a:srgbClr val="009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07408"/>
            <a:ext cx="46177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Pitch basado en información pública de ampicdmx.org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718304"/>
            <a:ext cx="46177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0E2BE"/>
                </a:solidFill>
                <a:latin typeface="Aptos"/>
              </a:rPr>
              <a:t>Preparado para evaluación comercial ROVI / SoftvibesLab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90E2BE"/>
                </a:solidFill>
                <a:latin typeface="Aptos"/>
              </a:rPr>
              <a:t>ROVI × AMPI CDMX · Propuesta conceptual basada en información pública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90E2BE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A1622"/>
                </a:solidFill>
                <a:latin typeface="Aptos"/>
              </a:rPr>
              <a:t>La señal pública: AMPI ya tiene los activos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71323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005F48"/>
                </a:solidFill>
                <a:latin typeface="Aptos"/>
              </a:rPr>
              <a:t>Lo visible en su ecosistema digital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514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9344"/>
            <a:ext cx="201168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3400" b="1">
                <a:solidFill>
                  <a:srgbClr val="005F48"/>
                </a:solidFill>
                <a:latin typeface="Aptos"/>
              </a:rPr>
              <a:t>400+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A1622"/>
                </a:solidFill>
                <a:latin typeface="Aptos"/>
              </a:rPr>
              <a:t>empresas mencionadas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5059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606F7B"/>
                </a:solidFill>
                <a:latin typeface="Aptos"/>
              </a:rPr>
              <a:t>base gremial poderosa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417320"/>
            <a:ext cx="2514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609344"/>
            <a:ext cx="201168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3400" b="1">
                <a:solidFill>
                  <a:srgbClr val="005F48"/>
                </a:solidFill>
                <a:latin typeface="Aptos"/>
              </a:rPr>
              <a:t>108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148840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A1622"/>
                </a:solidFill>
                <a:latin typeface="Aptos"/>
              </a:rPr>
              <a:t>asesores verificados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45059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606F7B"/>
                </a:solidFill>
                <a:latin typeface="Aptos"/>
              </a:rPr>
              <a:t>directorio público activo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417320"/>
            <a:ext cx="2514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609344"/>
            <a:ext cx="201168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3400" b="1">
                <a:solidFill>
                  <a:srgbClr val="005F48"/>
                </a:solidFill>
                <a:latin typeface="Aptos"/>
              </a:rPr>
              <a:t>1980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148840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A1622"/>
                </a:solidFill>
                <a:latin typeface="Aptos"/>
              </a:rPr>
              <a:t>constitución CDMX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45059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606F7B"/>
                </a:solidFill>
                <a:latin typeface="Aptos"/>
              </a:rPr>
              <a:t>legitimidad institucional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59" y="1417320"/>
            <a:ext cx="2514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59" y="1609344"/>
            <a:ext cx="201168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3400" b="1">
                <a:solidFill>
                  <a:srgbClr val="005F48"/>
                </a:solidFill>
                <a:latin typeface="Aptos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59" y="2148840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A1622"/>
                </a:solidFill>
                <a:latin typeface="Aptos"/>
              </a:rPr>
              <a:t>eventos vigentes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59" y="245059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606F7B"/>
                </a:solidFill>
                <a:latin typeface="Aptos"/>
              </a:rPr>
              <a:t>operación comercial viva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566160"/>
            <a:ext cx="3291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566160"/>
            <a:ext cx="91440" cy="132588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7552" y="3767328"/>
            <a:ext cx="384048" cy="384048"/>
          </a:xfrm>
          <a:prstGeom prst="ellipse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" y="3794760"/>
            <a:ext cx="329184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3730752"/>
            <a:ext cx="2313432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1622"/>
                </a:solidFill>
                <a:latin typeface="Aptos"/>
              </a:rPr>
              <a:t>Activos comerciales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114800"/>
            <a:ext cx="2313432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606F7B"/>
                </a:solidFill>
                <a:latin typeface="Aptos"/>
              </a:rPr>
              <a:t>Pre-registro, requisitos, eventos, revista, directorio, propiedades y aliados.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566160"/>
            <a:ext cx="3291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3566160"/>
            <a:ext cx="91440" cy="1325880"/>
          </a:xfrm>
          <a:prstGeom prst="rect">
            <a:avLst/>
          </a:prstGeom>
          <a:solidFill>
            <a:srgbClr val="DCA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90872" y="3767328"/>
            <a:ext cx="384048" cy="384048"/>
          </a:xfrm>
          <a:prstGeom prst="ellipse">
            <a:avLst/>
          </a:prstGeom>
          <a:solidFill>
            <a:srgbClr val="DCA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18303" y="3794760"/>
            <a:ext cx="329184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4648" y="3730752"/>
            <a:ext cx="2313432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1622"/>
                </a:solidFill>
                <a:latin typeface="Aptos"/>
              </a:rPr>
              <a:t>Señal de operación real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84648" y="4114800"/>
            <a:ext cx="2313432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606F7B"/>
                </a:solidFill>
                <a:latin typeface="Aptos"/>
              </a:rPr>
              <a:t>Pagos por WeChamber, registros por Zoom, login Smart Manager y portal TSF.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3566160"/>
            <a:ext cx="3291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3566160"/>
            <a:ext cx="91440" cy="1325880"/>
          </a:xfrm>
          <a:prstGeom prst="rect">
            <a:avLst/>
          </a:prstGeom>
          <a:solidFill>
            <a:srgbClr val="00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94192" y="3767328"/>
            <a:ext cx="384048" cy="384048"/>
          </a:xfrm>
          <a:prstGeom prst="ellipse">
            <a:avLst/>
          </a:prstGeom>
          <a:solidFill>
            <a:srgbClr val="00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21624" y="3794760"/>
            <a:ext cx="329184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7968" y="3730752"/>
            <a:ext cx="2313432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1622"/>
                </a:solidFill>
                <a:latin typeface="Aptos"/>
              </a:rPr>
              <a:t>Oportunidad ROVI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87968" y="4114800"/>
            <a:ext cx="2313432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606F7B"/>
                </a:solidFill>
                <a:latin typeface="Aptos"/>
              </a:rPr>
              <a:t>Conectar lo disperso en una sola capa de seguimiento, datos y automatización.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06F7B"/>
                </a:solidFill>
                <a:latin typeface="Aptos"/>
              </a:rPr>
              <a:t>ROVI × AMPI CDMX · Propuesta conceptual basada en información pública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06F7B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Diagnóstico: no falta presencia, falta conexión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71323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90E2BE"/>
                </a:solidFill>
                <a:latin typeface="Aptos"/>
              </a:rPr>
              <a:t>El sitio funciona; la operación queda repartida entre herramientas</a:t>
            </a:r>
          </a:p>
        </p:txBody>
      </p:sp>
      <p:pic>
        <p:nvPicPr>
          <p:cNvPr id="4" name="Picture 3" descr="fragmen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1056132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90E2BE"/>
                </a:solidFill>
                <a:latin typeface="Aptos"/>
              </a:rPr>
              <a:t>ROVI × AMPI CDMX · Propuesta conceptual basada en información pública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90E2B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A1622"/>
                </a:solidFill>
                <a:latin typeface="Aptos"/>
              </a:rPr>
              <a:t>La oportunidad: ROVI como capa inteligente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71323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005F48"/>
                </a:solidFill>
                <a:latin typeface="Aptos"/>
              </a:rPr>
              <a:t>No reemplazar lo existente; conectarlo, medirlo y hacerlo accionable</a:t>
            </a:r>
          </a:p>
        </p:txBody>
      </p:sp>
      <p:pic>
        <p:nvPicPr>
          <p:cNvPr id="4" name="Picture 3" descr="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43000"/>
            <a:ext cx="5669280" cy="31912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5160" y="1143000"/>
            <a:ext cx="41148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5F48"/>
                </a:solidFill>
                <a:latin typeface="Aptos"/>
              </a:rPr>
              <a:t>Pitch central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95160" y="1600200"/>
            <a:ext cx="4160520" cy="12344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A1622"/>
                </a:solidFill>
                <a:latin typeface="Aptos"/>
              </a:rPr>
              <a:t>“ROVI convierte el ecosistema AMPI CDMX en una operación viva: prospectos, asociados, eventos, pagos, propiedades, aliados y reportes en una sola vista.”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3246120"/>
            <a:ext cx="4251960" cy="1417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606F7B"/>
                </a:solidFill>
                <a:latin typeface="Aptos"/>
              </a:rPr>
              <a:t>Evita el mensaje de “tirar lo que tienen”.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606F7B"/>
                </a:solidFill>
                <a:latin typeface="Aptos"/>
              </a:rPr>
              <a:t>El enfoque correcto es integración gradual + wins visibles en 30 días.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606F7B"/>
                </a:solidFill>
                <a:latin typeface="Aptos"/>
              </a:rPr>
              <a:t>Primer valor: afiliación, eventos y directorio medible.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06F7B"/>
                </a:solidFill>
                <a:latin typeface="Aptos"/>
              </a:rPr>
              <a:t>ROVI × AMPI CDMX · Propuesta conceptual basada en información pública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06F7B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A1622"/>
                </a:solidFill>
                <a:latin typeface="Aptos"/>
              </a:rPr>
              <a:t>Dolores detectados desde la página pública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71323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005F48"/>
                </a:solidFill>
                <a:latin typeface="Aptos"/>
              </a:rPr>
              <a:t>Cada dolor corresponde a un módulo ROVI ya conceptualizado para COPIM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91440" cy="141732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1527048"/>
            <a:ext cx="384048" cy="384048"/>
          </a:xfrm>
          <a:prstGeom prst="ellipse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329184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490472"/>
            <a:ext cx="2359152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1622"/>
                </a:solidFill>
                <a:latin typeface="Aptos"/>
              </a:rPr>
              <a:t>Afiliación manual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874519"/>
            <a:ext cx="2359152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606F7B"/>
                </a:solidFill>
                <a:latin typeface="Aptos"/>
              </a:rPr>
              <a:t>Requisitos por correo, documentos sueltos, poco tracking.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325880"/>
            <a:ext cx="91440" cy="1417320"/>
          </a:xfrm>
          <a:prstGeom prst="rect">
            <a:avLst/>
          </a:prstGeom>
          <a:solidFill>
            <a:srgbClr val="DCA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90872" y="1527048"/>
            <a:ext cx="384048" cy="384048"/>
          </a:xfrm>
          <a:prstGeom prst="ellipse">
            <a:avLst/>
          </a:prstGeom>
          <a:solidFill>
            <a:srgbClr val="DCA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4" y="1554480"/>
            <a:ext cx="329184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648" y="1490472"/>
            <a:ext cx="2359151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1622"/>
                </a:solidFill>
                <a:latin typeface="Aptos"/>
              </a:rPr>
              <a:t>Eventos fragmentados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8" y="1874519"/>
            <a:ext cx="2359151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606F7B"/>
                </a:solidFill>
                <a:latin typeface="Aptos"/>
              </a:rPr>
              <a:t>Pago en WeChamber + registro en Zoom + seguimiento manual.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32588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325880"/>
            <a:ext cx="91440" cy="1417320"/>
          </a:xfrm>
          <a:prstGeom prst="rect">
            <a:avLst/>
          </a:prstGeom>
          <a:solidFill>
            <a:srgbClr val="00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85632" y="1527048"/>
            <a:ext cx="384048" cy="384048"/>
          </a:xfrm>
          <a:prstGeom prst="ellipse">
            <a:avLst/>
          </a:prstGeom>
          <a:solidFill>
            <a:srgbClr val="00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13064" y="1554480"/>
            <a:ext cx="329184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8" y="1490472"/>
            <a:ext cx="2359151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1622"/>
                </a:solidFill>
                <a:latin typeface="Aptos"/>
              </a:rPr>
              <a:t>Directorio desconectado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1874519"/>
            <a:ext cx="2359151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606F7B"/>
                </a:solidFill>
                <a:latin typeface="Aptos"/>
              </a:rPr>
              <a:t>108 asesores verificados sin trazabilidad visible de leads/valor.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20040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200400"/>
            <a:ext cx="91440" cy="141732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96112" y="3401568"/>
            <a:ext cx="384048" cy="384048"/>
          </a:xfrm>
          <a:prstGeom prst="ellipse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" y="3429000"/>
            <a:ext cx="329184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88" y="3364992"/>
            <a:ext cx="2359152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1622"/>
                </a:solidFill>
                <a:latin typeface="Aptos"/>
              </a:rPr>
              <a:t>Contacto genérico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9888" y="3749039"/>
            <a:ext cx="2359152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606F7B"/>
                </a:solidFill>
                <a:latin typeface="Aptos"/>
              </a:rPr>
              <a:t>No clasifica intención: socio, evento, patrocinio, soporte, propiedades.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20040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34840" y="3200400"/>
            <a:ext cx="91440" cy="1417320"/>
          </a:xfrm>
          <a:prstGeom prst="rect">
            <a:avLst/>
          </a:prstGeom>
          <a:solidFill>
            <a:srgbClr val="DCA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90872" y="3401568"/>
            <a:ext cx="384048" cy="384048"/>
          </a:xfrm>
          <a:prstGeom prst="ellipse">
            <a:avLst/>
          </a:prstGeom>
          <a:solidFill>
            <a:srgbClr val="DCA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3429000"/>
            <a:ext cx="329184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4648" y="3364992"/>
            <a:ext cx="2359151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1622"/>
                </a:solidFill>
                <a:latin typeface="Aptos"/>
              </a:rPr>
              <a:t>Revista/aliados submonetizados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84648" y="3749039"/>
            <a:ext cx="2359151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606F7B"/>
                </a:solidFill>
                <a:latin typeface="Aptos"/>
              </a:rPr>
              <a:t>Activo editorial y patrocinios sin pipeline comercial visible.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320040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3200400"/>
            <a:ext cx="91440" cy="1417320"/>
          </a:xfrm>
          <a:prstGeom prst="rect">
            <a:avLst/>
          </a:prstGeom>
          <a:solidFill>
            <a:srgbClr val="00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85632" y="3401568"/>
            <a:ext cx="384048" cy="384048"/>
          </a:xfrm>
          <a:prstGeom prst="ellipse">
            <a:avLst/>
          </a:prstGeom>
          <a:solidFill>
            <a:srgbClr val="00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13064" y="3429000"/>
            <a:ext cx="329184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79408" y="3364992"/>
            <a:ext cx="2359151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1622"/>
                </a:solidFill>
                <a:latin typeface="Aptos"/>
              </a:rPr>
              <a:t>Portal sin promesa clara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79408" y="3749039"/>
            <a:ext cx="2359151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606F7B"/>
                </a:solidFill>
                <a:latin typeface="Aptos"/>
              </a:rPr>
              <a:t>“Ingresar” existe, pero no comunica valor del portal al asociado.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06F7B"/>
                </a:solidFill>
                <a:latin typeface="Aptos"/>
              </a:rPr>
              <a:t>ROVI × AMPI CDMX · Propuesta conceptual basada en información pública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06F7B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Producto: ROVI AMPI Operating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71323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90E2BE"/>
                </a:solidFill>
                <a:latin typeface="Aptos"/>
              </a:rPr>
              <a:t>Módulos para convertir comunidad gremial en operación, datos e ingresos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3246120" cy="1463040"/>
          </a:xfrm>
          <a:prstGeom prst="roundRect">
            <a:avLst/>
          </a:prstGeom>
          <a:solidFill>
            <a:srgbClr val="122631"/>
          </a:solidFill>
          <a:ln w="12700">
            <a:solidFill>
              <a:srgbClr val="009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645920"/>
            <a:ext cx="438912" cy="438912"/>
          </a:xfrm>
          <a:prstGeom prst="ellipse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00784"/>
            <a:ext cx="438912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636776"/>
            <a:ext cx="214884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CRM de prospectos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075688"/>
            <a:ext cx="2148840" cy="4754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0E2BE"/>
                </a:solidFill>
                <a:latin typeface="Aptos"/>
              </a:rPr>
              <a:t>Captura, pipeline y seguimiento multicanal.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79" y="1417320"/>
            <a:ext cx="3246120" cy="1463040"/>
          </a:xfrm>
          <a:prstGeom prst="roundRect">
            <a:avLst/>
          </a:prstGeom>
          <a:solidFill>
            <a:srgbClr val="122631"/>
          </a:solidFill>
          <a:ln w="12700">
            <a:solidFill>
              <a:srgbClr val="009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54879" y="1645920"/>
            <a:ext cx="438912" cy="438912"/>
          </a:xfrm>
          <a:prstGeom prst="ellipse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700784"/>
            <a:ext cx="438912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36776"/>
            <a:ext cx="214884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Expediente digital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075688"/>
            <a:ext cx="2148840" cy="4754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0E2BE"/>
                </a:solidFill>
                <a:latin typeface="Aptos"/>
              </a:rPr>
              <a:t>Documentos, checklist, revisión y aprobación.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19" y="1417320"/>
            <a:ext cx="3246120" cy="1463040"/>
          </a:xfrm>
          <a:prstGeom prst="roundRect">
            <a:avLst/>
          </a:prstGeom>
          <a:solidFill>
            <a:srgbClr val="122631"/>
          </a:solidFill>
          <a:ln w="12700">
            <a:solidFill>
              <a:srgbClr val="009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03919" y="1645920"/>
            <a:ext cx="438912" cy="438912"/>
          </a:xfrm>
          <a:prstGeom prst="ellipse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19" y="1700784"/>
            <a:ext cx="438912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1636776"/>
            <a:ext cx="214884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Portal asociado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75688"/>
            <a:ext cx="2148840" cy="4754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0E2BE"/>
                </a:solidFill>
                <a:latin typeface="Aptos"/>
              </a:rPr>
              <a:t>Perfil, pagos, constancias, beneficios y eventos.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429000"/>
            <a:ext cx="3246120" cy="1463040"/>
          </a:xfrm>
          <a:prstGeom prst="roundRect">
            <a:avLst/>
          </a:prstGeom>
          <a:solidFill>
            <a:srgbClr val="122631"/>
          </a:solidFill>
          <a:ln w="12700">
            <a:solidFill>
              <a:srgbClr val="009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" y="3657600"/>
            <a:ext cx="438912" cy="438912"/>
          </a:xfrm>
          <a:prstGeom prst="ellipse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712463"/>
            <a:ext cx="438912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648456"/>
            <a:ext cx="214884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Eventos/capacitación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087368"/>
            <a:ext cx="2148840" cy="4754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0E2BE"/>
                </a:solidFill>
                <a:latin typeface="Aptos"/>
              </a:rPr>
              <a:t>Registro, pago, Zoom, asistencia y constancias.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79" y="3429000"/>
            <a:ext cx="3246120" cy="1463040"/>
          </a:xfrm>
          <a:prstGeom prst="roundRect">
            <a:avLst/>
          </a:prstGeom>
          <a:solidFill>
            <a:srgbClr val="122631"/>
          </a:solidFill>
          <a:ln w="12700">
            <a:solidFill>
              <a:srgbClr val="009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54879" y="3657600"/>
            <a:ext cx="438912" cy="438912"/>
          </a:xfrm>
          <a:prstGeom prst="ellipse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79" y="3712463"/>
            <a:ext cx="438912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648456"/>
            <a:ext cx="214884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Directorio inteligente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4087368"/>
            <a:ext cx="2148840" cy="4754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0E2BE"/>
                </a:solidFill>
                <a:latin typeface="Aptos"/>
              </a:rPr>
              <a:t>Perfiles vivos, especialidades, leads y métricas.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19" y="3429000"/>
            <a:ext cx="3246120" cy="1463040"/>
          </a:xfrm>
          <a:prstGeom prst="roundRect">
            <a:avLst/>
          </a:prstGeom>
          <a:solidFill>
            <a:srgbClr val="122631"/>
          </a:solidFill>
          <a:ln w="12700">
            <a:solidFill>
              <a:srgbClr val="009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03919" y="3657600"/>
            <a:ext cx="438912" cy="438912"/>
          </a:xfrm>
          <a:prstGeom prst="ellipse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19" y="3712463"/>
            <a:ext cx="438912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3648456"/>
            <a:ext cx="214884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Control Tower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4087368"/>
            <a:ext cx="2148840" cy="4754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0E2BE"/>
                </a:solidFill>
                <a:latin typeface="Aptos"/>
              </a:rPr>
              <a:t>KPIs para consejo: ingresos, socios, eventos y conversión.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90E2BE"/>
                </a:solidFill>
                <a:latin typeface="Aptos"/>
              </a:rPr>
              <a:t>ROVI × AMPI CDMX · Propuesta conceptual basada en información pública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90E2BE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A1622"/>
                </a:solidFill>
                <a:latin typeface="Aptos"/>
              </a:rPr>
              <a:t>Flujo estrella: afiliación digital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71323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005F48"/>
                </a:solidFill>
                <a:latin typeface="Aptos"/>
              </a:rPr>
              <a:t>Del “envía tus documentos por correo” al expediente con seguimiento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1600200"/>
            <a:ext cx="713232" cy="713232"/>
          </a:xfrm>
          <a:prstGeom prst="ellipse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713232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47672" y="1956816"/>
            <a:ext cx="795528" cy="0"/>
          </a:xfrm>
          <a:prstGeom prst="line">
            <a:avLst/>
          </a:prstGeom>
          <a:ln>
            <a:solidFill>
              <a:srgbClr val="005F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2514600"/>
            <a:ext cx="173736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0A1622"/>
                </a:solidFill>
                <a:latin typeface="Aptos"/>
              </a:rPr>
              <a:t>Nuevo prospecto</a:t>
            </a:r>
          </a:p>
        </p:txBody>
      </p:sp>
      <p:sp>
        <p:nvSpPr>
          <p:cNvPr id="8" name="Oval 7"/>
          <p:cNvSpPr/>
          <p:nvPr/>
        </p:nvSpPr>
        <p:spPr>
          <a:xfrm>
            <a:off x="3456432" y="1600200"/>
            <a:ext cx="713232" cy="713232"/>
          </a:xfrm>
          <a:prstGeom prst="ellipse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432" y="1783080"/>
            <a:ext cx="713232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15383" y="1956816"/>
            <a:ext cx="795529" cy="0"/>
          </a:xfrm>
          <a:prstGeom prst="line">
            <a:avLst/>
          </a:prstGeom>
          <a:ln>
            <a:solidFill>
              <a:srgbClr val="005F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953512" y="2514600"/>
            <a:ext cx="173736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0A1622"/>
                </a:solidFill>
                <a:latin typeface="Aptos"/>
              </a:rPr>
              <a:t>Documentos solicitados</a:t>
            </a:r>
          </a:p>
        </p:txBody>
      </p:sp>
      <p:sp>
        <p:nvSpPr>
          <p:cNvPr id="12" name="Oval 11"/>
          <p:cNvSpPr/>
          <p:nvPr/>
        </p:nvSpPr>
        <p:spPr>
          <a:xfrm>
            <a:off x="5724144" y="1600200"/>
            <a:ext cx="713232" cy="713232"/>
          </a:xfrm>
          <a:prstGeom prst="ellipse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24144" y="1783080"/>
            <a:ext cx="713232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83096" y="1956816"/>
            <a:ext cx="795528" cy="0"/>
          </a:xfrm>
          <a:prstGeom prst="line">
            <a:avLst/>
          </a:prstGeom>
          <a:ln>
            <a:solidFill>
              <a:srgbClr val="005F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221224" y="2514600"/>
            <a:ext cx="173736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0A1622"/>
                </a:solidFill>
                <a:latin typeface="Aptos"/>
              </a:rPr>
              <a:t>En revisión</a:t>
            </a:r>
          </a:p>
        </p:txBody>
      </p:sp>
      <p:sp>
        <p:nvSpPr>
          <p:cNvPr id="16" name="Oval 15"/>
          <p:cNvSpPr/>
          <p:nvPr/>
        </p:nvSpPr>
        <p:spPr>
          <a:xfrm>
            <a:off x="7991856" y="1600200"/>
            <a:ext cx="713232" cy="713232"/>
          </a:xfrm>
          <a:prstGeom prst="ellipse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1856" y="1783080"/>
            <a:ext cx="713232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50808" y="1956816"/>
            <a:ext cx="795528" cy="0"/>
          </a:xfrm>
          <a:prstGeom prst="line">
            <a:avLst/>
          </a:prstGeom>
          <a:ln>
            <a:solidFill>
              <a:srgbClr val="005F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88936" y="2514600"/>
            <a:ext cx="173736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0A1622"/>
                </a:solidFill>
                <a:latin typeface="Aptos"/>
              </a:rPr>
              <a:t>Pago pendiente</a:t>
            </a:r>
          </a:p>
        </p:txBody>
      </p:sp>
      <p:sp>
        <p:nvSpPr>
          <p:cNvPr id="20" name="Oval 19"/>
          <p:cNvSpPr/>
          <p:nvPr/>
        </p:nvSpPr>
        <p:spPr>
          <a:xfrm>
            <a:off x="10259568" y="1600200"/>
            <a:ext cx="713232" cy="713232"/>
          </a:xfrm>
          <a:prstGeom prst="ellipse">
            <a:avLst/>
          </a:prstGeom>
          <a:solidFill>
            <a:srgbClr val="DCA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59568" y="1783080"/>
            <a:ext cx="713232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6648" y="2514600"/>
            <a:ext cx="173736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0A1622"/>
                </a:solidFill>
                <a:latin typeface="Aptos"/>
              </a:rPr>
              <a:t>Asociado activo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794760"/>
            <a:ext cx="106070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005072"/>
            <a:ext cx="24688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5F48"/>
                </a:solidFill>
                <a:latin typeface="Aptos"/>
              </a:rPr>
              <a:t>Automatizaciones sugeridas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886200"/>
            <a:ext cx="7178040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30" b="0">
                <a:solidFill>
                  <a:srgbClr val="0A1622"/>
                </a:solidFill>
                <a:latin typeface="Aptos"/>
              </a:rPr>
              <a:t>Confirmación inmediata · recordatorio de documentos faltantes · asignación a responsable · alerta si el prospecto se enfría · reporte semanal de conversión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06F7B"/>
                </a:solidFill>
                <a:latin typeface="Aptos"/>
              </a:rPr>
              <a:t>ROVI × AMPI CDMX · Propuesta conceptual basada en información pública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06F7B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A1622"/>
                </a:solidFill>
                <a:latin typeface="Aptos"/>
              </a:rPr>
              <a:t>Flujo comercial: eventos y capacitación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71323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005F48"/>
                </a:solidFill>
                <a:latin typeface="Aptos"/>
              </a:rPr>
              <a:t>Ejemplo: “7 errores que están saboteando tus cierres”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234440"/>
            <a:ext cx="310896" cy="310896"/>
          </a:xfrm>
          <a:prstGeom prst="ellipse">
            <a:avLst/>
          </a:prstGeom>
          <a:solidFill>
            <a:srgbClr val="00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07592"/>
            <a:ext cx="310896" cy="914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216152"/>
            <a:ext cx="2926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A1622"/>
                </a:solidFill>
                <a:latin typeface="Aptos"/>
              </a:rPr>
              <a:t>Landing del evento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892808"/>
            <a:ext cx="310896" cy="310896"/>
          </a:xfrm>
          <a:prstGeom prst="ellipse">
            <a:avLst/>
          </a:prstGeom>
          <a:solidFill>
            <a:srgbClr val="00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310896" cy="914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874520"/>
            <a:ext cx="2926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A1622"/>
                </a:solidFill>
                <a:latin typeface="Aptos"/>
              </a:rPr>
              <a:t>Registro dentro de ROVI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551176"/>
            <a:ext cx="310896" cy="310896"/>
          </a:xfrm>
          <a:prstGeom prst="ellipse">
            <a:avLst/>
          </a:prstGeom>
          <a:solidFill>
            <a:srgbClr val="00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24328"/>
            <a:ext cx="310896" cy="914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532888"/>
            <a:ext cx="2926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A1622"/>
                </a:solidFill>
                <a:latin typeface="Aptos"/>
              </a:rPr>
              <a:t>Pago rastreado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209544"/>
            <a:ext cx="310896" cy="310896"/>
          </a:xfrm>
          <a:prstGeom prst="ellipse">
            <a:avLst/>
          </a:prstGeom>
          <a:solidFill>
            <a:srgbClr val="00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82696"/>
            <a:ext cx="310896" cy="914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3191256"/>
            <a:ext cx="2926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A1622"/>
                </a:solidFill>
                <a:latin typeface="Aptos"/>
              </a:rPr>
              <a:t>Confirmación automática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867912"/>
            <a:ext cx="310896" cy="310896"/>
          </a:xfrm>
          <a:prstGeom prst="ellipse">
            <a:avLst/>
          </a:prstGeom>
          <a:solidFill>
            <a:srgbClr val="00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941064"/>
            <a:ext cx="310896" cy="914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849624"/>
            <a:ext cx="2926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A1622"/>
                </a:solidFill>
                <a:latin typeface="Aptos"/>
              </a:rPr>
              <a:t>Recordatorio Zoom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526279"/>
            <a:ext cx="310896" cy="310896"/>
          </a:xfrm>
          <a:prstGeom prst="ellipse">
            <a:avLst/>
          </a:prstGeom>
          <a:solidFill>
            <a:srgbClr val="00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599431"/>
            <a:ext cx="310896" cy="914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507992"/>
            <a:ext cx="2926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A1622"/>
                </a:solidFill>
                <a:latin typeface="Aptos"/>
              </a:rPr>
              <a:t>Asistencia + constancia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77840" y="1234440"/>
            <a:ext cx="5120640" cy="457200"/>
          </a:xfrm>
          <a:prstGeom prst="round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1344168"/>
            <a:ext cx="2377440" cy="1371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Interesados: 180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77840" y="2103120"/>
            <a:ext cx="3555999" cy="457200"/>
          </a:xfrm>
          <a:prstGeom prst="roundRect">
            <a:avLst/>
          </a:prstGeom>
          <a:solidFill>
            <a:srgbClr val="00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2212848"/>
            <a:ext cx="2377440" cy="1371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Registrados: 125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77840" y="2971800"/>
            <a:ext cx="2446528" cy="457200"/>
          </a:xfrm>
          <a:prstGeom prst="roundRect">
            <a:avLst/>
          </a:prstGeom>
          <a:solidFill>
            <a:srgbClr val="DCA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5000" y="3081528"/>
            <a:ext cx="2377440" cy="1371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Pagados: 86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77840" y="3840479"/>
            <a:ext cx="2019807" cy="457200"/>
          </a:xfrm>
          <a:prstGeom prst="roundRect">
            <a:avLst/>
          </a:prstGeom>
          <a:solidFill>
            <a:srgbClr val="C64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3950207"/>
            <a:ext cx="2377440" cy="1371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Asistentes: 71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4892040"/>
            <a:ext cx="5440680" cy="6400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1622"/>
                </a:solidFill>
                <a:latin typeface="Aptos"/>
              </a:rPr>
              <a:t>Valor para AMPI: ya no solo “se publicó el evento”; se mide conversión, asistencia, ingresos y seguimiento posterior.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06F7B"/>
                </a:solidFill>
                <a:latin typeface="Aptos"/>
              </a:rPr>
              <a:t>ROVI × AMPI CDMX · Propuesta conceptual basada en información pública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06F7B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Directorio inteligente: de listado a activo de valor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71323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90E2BE"/>
                </a:solidFill>
                <a:latin typeface="Aptos"/>
              </a:rPr>
              <a:t>El directorio actual puede demostrar valor real a cada asociado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325880"/>
            <a:ext cx="38404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34440" y="1691640"/>
            <a:ext cx="841248" cy="841248"/>
          </a:xfrm>
          <a:prstGeom prst="ellipse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920240"/>
            <a:ext cx="84124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737360"/>
            <a:ext cx="20116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A1622"/>
                </a:solidFill>
                <a:latin typeface="Aptos"/>
              </a:rPr>
              <a:t>Asesor verificado AMPI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057400"/>
            <a:ext cx="201168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06F7B"/>
                </a:solidFill>
                <a:latin typeface="Aptos"/>
              </a:rPr>
              <a:t>Residencial · Lujo · CDMX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43200"/>
            <a:ext cx="2286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965E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743200"/>
            <a:ext cx="26517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41C24"/>
                </a:solidFill>
                <a:latin typeface="Aptos"/>
              </a:rPr>
              <a:t>Certificaciones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127248"/>
            <a:ext cx="2286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965E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127248"/>
            <a:ext cx="26517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41C24"/>
                </a:solidFill>
                <a:latin typeface="Aptos"/>
              </a:rPr>
              <a:t>Zonas atendidas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11296"/>
            <a:ext cx="2286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965E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511296"/>
            <a:ext cx="26517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41C24"/>
                </a:solidFill>
                <a:latin typeface="Aptos"/>
              </a:rPr>
              <a:t>Propiedades activas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895344"/>
            <a:ext cx="2286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965E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895344"/>
            <a:ext cx="26517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41C24"/>
                </a:solidFill>
                <a:latin typeface="Aptos"/>
              </a:rPr>
              <a:t>Solicitudes recibidas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279392"/>
            <a:ext cx="2286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965E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279392"/>
            <a:ext cx="26517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41C24"/>
                </a:solidFill>
                <a:latin typeface="Aptos"/>
              </a:rPr>
              <a:t>Métricas de visibilidad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57800" y="1325880"/>
            <a:ext cx="2743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57800" y="1325880"/>
            <a:ext cx="91440" cy="1234440"/>
          </a:xfrm>
          <a:prstGeom prst="rect">
            <a:avLst/>
          </a:prstGeom>
          <a:solidFill>
            <a:srgbClr val="DCA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13832" y="1527048"/>
            <a:ext cx="384048" cy="384048"/>
          </a:xfrm>
          <a:prstGeom prst="ellipse">
            <a:avLst/>
          </a:prstGeom>
          <a:solidFill>
            <a:srgbClr val="DCA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41264" y="1554480"/>
            <a:ext cx="329184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7608" y="1490472"/>
            <a:ext cx="1764791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1622"/>
                </a:solidFill>
                <a:latin typeface="Aptos"/>
              </a:rPr>
              <a:t>Para asociados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8" y="1874519"/>
            <a:ext cx="1764791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606F7B"/>
                </a:solidFill>
                <a:latin typeface="Aptos"/>
              </a:rPr>
              <a:t>Más exposición, perfil profesional y evidencia del valor de pertenecer.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1325880"/>
            <a:ext cx="2743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12480" y="1325880"/>
            <a:ext cx="91440" cy="1234440"/>
          </a:xfrm>
          <a:prstGeom prst="rect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68511" y="1527048"/>
            <a:ext cx="384048" cy="384048"/>
          </a:xfrm>
          <a:prstGeom prst="ellipse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95944" y="1554480"/>
            <a:ext cx="329184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2288" y="1490472"/>
            <a:ext cx="1764791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1622"/>
                </a:solidFill>
                <a:latin typeface="Aptos"/>
              </a:rPr>
              <a:t>Para AMPI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288" y="1874519"/>
            <a:ext cx="1764791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606F7B"/>
                </a:solidFill>
                <a:latin typeface="Aptos"/>
              </a:rPr>
              <a:t>Datos de demanda, actividad del directorio y leads generados.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57800" y="2971800"/>
            <a:ext cx="2743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57800" y="2971800"/>
            <a:ext cx="91440" cy="1234440"/>
          </a:xfrm>
          <a:prstGeom prst="rect">
            <a:avLst/>
          </a:prstGeom>
          <a:solidFill>
            <a:srgbClr val="00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13832" y="3172968"/>
            <a:ext cx="384048" cy="384048"/>
          </a:xfrm>
          <a:prstGeom prst="ellipse">
            <a:avLst/>
          </a:prstGeom>
          <a:solidFill>
            <a:srgbClr val="00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41264" y="3200400"/>
            <a:ext cx="329184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7608" y="3136392"/>
            <a:ext cx="1764791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1622"/>
                </a:solidFill>
                <a:latin typeface="Aptos"/>
              </a:rPr>
              <a:t>Para público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07608" y="3520440"/>
            <a:ext cx="1764791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606F7B"/>
                </a:solidFill>
                <a:latin typeface="Aptos"/>
              </a:rPr>
              <a:t>Búsqueda confiable de profesionales verificados.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0" y="2971800"/>
            <a:ext cx="2743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12480" y="2971800"/>
            <a:ext cx="91440" cy="1234440"/>
          </a:xfrm>
          <a:prstGeom prst="rect">
            <a:avLst/>
          </a:prstGeom>
          <a:solidFill>
            <a:srgbClr val="DCA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668511" y="3172968"/>
            <a:ext cx="384048" cy="384048"/>
          </a:xfrm>
          <a:prstGeom prst="ellipse">
            <a:avLst/>
          </a:prstGeom>
          <a:solidFill>
            <a:srgbClr val="DCA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95944" y="3200400"/>
            <a:ext cx="329184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62288" y="3136392"/>
            <a:ext cx="1764791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1622"/>
                </a:solidFill>
                <a:latin typeface="Aptos"/>
              </a:rPr>
              <a:t>Para patrocinadores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62288" y="3520440"/>
            <a:ext cx="1764791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606F7B"/>
                </a:solidFill>
                <a:latin typeface="Aptos"/>
              </a:rPr>
              <a:t>Segmentos comerciales y oportunidades medibles.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90E2BE"/>
                </a:solidFill>
                <a:latin typeface="Aptos"/>
              </a:rPr>
              <a:t>ROVI × AMPI CDMX · Propuesta conceptual basada en información pública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90E2BE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A1622"/>
                </a:solidFill>
                <a:latin typeface="Aptos"/>
              </a:rPr>
              <a:t>Control Tower para consejo y operación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71323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005F48"/>
                </a:solidFill>
                <a:latin typeface="Aptos"/>
              </a:rPr>
              <a:t>Una vista directiva para tomar decisiones con datos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70432"/>
            <a:ext cx="32461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35024"/>
            <a:ext cx="13716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05F48"/>
                </a:solidFill>
                <a:latin typeface="Aptos"/>
              </a:rPr>
              <a:t>412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7128" y="1371600"/>
            <a:ext cx="15087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A1622"/>
                </a:solidFill>
                <a:latin typeface="Aptos"/>
              </a:rPr>
              <a:t>Asociados activos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67128" y="1682496"/>
            <a:ext cx="15087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606F7B"/>
                </a:solidFill>
                <a:latin typeface="Aptos"/>
              </a:rPr>
              <a:t>+3.2%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170432"/>
            <a:ext cx="32461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1335024"/>
            <a:ext cx="13716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05F48"/>
                </a:solidFill>
                <a:latin typeface="Aptos"/>
              </a:rPr>
              <a:t>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34456" y="1371600"/>
            <a:ext cx="15087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A1622"/>
                </a:solidFill>
                <a:latin typeface="Aptos"/>
              </a:rPr>
              <a:t>Prospectos nuevos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6" y="1682496"/>
            <a:ext cx="15087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606F7B"/>
                </a:solidFill>
                <a:latin typeface="Aptos"/>
              </a:rPr>
              <a:t>este 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0456" y="1170432"/>
            <a:ext cx="32461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49056" y="1335024"/>
            <a:ext cx="13716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05F48"/>
                </a:solidFill>
                <a:latin typeface="Aptos"/>
              </a:rPr>
              <a:t>58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01784" y="1371600"/>
            <a:ext cx="15087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A1622"/>
                </a:solidFill>
                <a:latin typeface="Aptos"/>
              </a:rPr>
              <a:t>Renovaciones próximas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01784" y="1682496"/>
            <a:ext cx="15087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606F7B"/>
                </a:solidFill>
                <a:latin typeface="Aptos"/>
              </a:rPr>
              <a:t>30 días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679191"/>
            <a:ext cx="32461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843784"/>
            <a:ext cx="13716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05F48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67128" y="2880360"/>
            <a:ext cx="15087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A1622"/>
                </a:solidFill>
                <a:latin typeface="Aptos"/>
              </a:rPr>
              <a:t>Eventos activos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7128" y="3191256"/>
            <a:ext cx="15087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606F7B"/>
                </a:solidFill>
                <a:latin typeface="Aptos"/>
              </a:rPr>
              <a:t>pipeline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53128" y="2679191"/>
            <a:ext cx="32461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2843784"/>
            <a:ext cx="13716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05F48"/>
                </a:solidFill>
                <a:latin typeface="Aptos"/>
              </a:rPr>
              <a:t>$186k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34456" y="2880360"/>
            <a:ext cx="15087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A1622"/>
                </a:solidFill>
                <a:latin typeface="Aptos"/>
              </a:rPr>
              <a:t>Ingreso estimado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34456" y="3191256"/>
            <a:ext cx="15087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606F7B"/>
                </a:solidFill>
                <a:latin typeface="Aptos"/>
              </a:rPr>
              <a:t>eventos/cuotas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0456" y="2679191"/>
            <a:ext cx="32461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9056" y="2843784"/>
            <a:ext cx="13716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05F48"/>
                </a:solidFill>
                <a:latin typeface="Aptos"/>
              </a:rPr>
              <a:t>94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01784" y="2880360"/>
            <a:ext cx="15087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A1622"/>
                </a:solidFill>
                <a:latin typeface="Aptos"/>
              </a:rPr>
              <a:t>Leads directorio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01784" y="3191256"/>
            <a:ext cx="15087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606F7B"/>
                </a:solidFill>
                <a:latin typeface="Aptos"/>
              </a:rPr>
              <a:t>últimos 30 días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" y="4572000"/>
            <a:ext cx="10058400" cy="777240"/>
          </a:xfrm>
          <a:prstGeom prst="roundRect">
            <a:avLst/>
          </a:prstGeom>
          <a:solidFill>
            <a:srgbClr val="00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727448"/>
            <a:ext cx="98755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80" b="1">
                <a:solidFill>
                  <a:srgbClr val="FFFFFF"/>
                </a:solidFill>
                <a:latin typeface="Aptos"/>
              </a:rPr>
              <a:t>Habilita decisiones: qué eventos repetir, qué prospectos atender, qué socios están en riesgo y qué ingresos vienen.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06F7B"/>
                </a:solidFill>
                <a:latin typeface="Aptos"/>
              </a:rPr>
              <a:t>ROVI × AMPI CDMX · Propuesta conceptual basada en información pública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06F7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MVP de 30 días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71323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90E2BE"/>
                </a:solidFill>
                <a:latin typeface="Aptos"/>
              </a:rPr>
              <a:t>Sin reemplazar sistemas existentes: integrar, demostrar valor y escalar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2331720" cy="3520440"/>
          </a:xfrm>
          <a:prstGeom prst="roundRect">
            <a:avLst/>
          </a:prstGeom>
          <a:solidFill>
            <a:srgbClr val="122631"/>
          </a:solidFill>
          <a:ln w="12700">
            <a:solidFill>
              <a:srgbClr val="009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874519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90E2BE"/>
                </a:solidFill>
                <a:latin typeface="Aptos"/>
              </a:rPr>
              <a:t>Semana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14600"/>
            <a:ext cx="1691640" cy="1463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Tenant AMPI, roles, pipelines y carga inicial de muestra.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343400"/>
            <a:ext cx="169164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90E2BE"/>
                </a:solidFill>
                <a:latin typeface="Aptos"/>
              </a:rPr>
              <a:t>Entregable visible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93592" y="1508760"/>
            <a:ext cx="2331720" cy="3520440"/>
          </a:xfrm>
          <a:prstGeom prst="roundRect">
            <a:avLst/>
          </a:prstGeom>
          <a:solidFill>
            <a:srgbClr val="122631"/>
          </a:solidFill>
          <a:ln w="12700">
            <a:solidFill>
              <a:srgbClr val="009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22191" y="1828800"/>
            <a:ext cx="1874519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90E2BE"/>
                </a:solidFill>
                <a:latin typeface="Aptos"/>
              </a:rPr>
              <a:t>Semana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13632" y="2514600"/>
            <a:ext cx="1691640" cy="1463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Pre-registro, expediente digital y checklist documental.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13632" y="4343400"/>
            <a:ext cx="169164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90E2BE"/>
                </a:solidFill>
                <a:latin typeface="Aptos"/>
              </a:rPr>
              <a:t>Entregable visible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9944" y="1508760"/>
            <a:ext cx="2331720" cy="3520440"/>
          </a:xfrm>
          <a:prstGeom prst="roundRect">
            <a:avLst/>
          </a:prstGeom>
          <a:solidFill>
            <a:srgbClr val="122631"/>
          </a:solidFill>
          <a:ln w="12700">
            <a:solidFill>
              <a:srgbClr val="009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38544" y="1828800"/>
            <a:ext cx="1874519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90E2BE"/>
                </a:solidFill>
                <a:latin typeface="Aptos"/>
              </a:rPr>
              <a:t>Semana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9983" y="2514600"/>
            <a:ext cx="1691640" cy="1463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Eventos: landing, registro, pago rastreado, recordatorios.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9983" y="4343400"/>
            <a:ext cx="169164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90E2BE"/>
                </a:solidFill>
                <a:latin typeface="Aptos"/>
              </a:rPr>
              <a:t>Entregable visible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26296" y="1508760"/>
            <a:ext cx="2331720" cy="3520440"/>
          </a:xfrm>
          <a:prstGeom prst="roundRect">
            <a:avLst/>
          </a:prstGeom>
          <a:solidFill>
            <a:srgbClr val="122631"/>
          </a:solidFill>
          <a:ln w="12700">
            <a:solidFill>
              <a:srgbClr val="DCA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4896" y="1828800"/>
            <a:ext cx="1874519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DCAD4C"/>
                </a:solidFill>
                <a:latin typeface="Aptos"/>
              </a:rPr>
              <a:t>Semana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46336" y="2514600"/>
            <a:ext cx="1691640" cy="1463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Portal básico, directorio enriquecido y Control Tower demo.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46336" y="4343400"/>
            <a:ext cx="169164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90E2BE"/>
                </a:solidFill>
                <a:latin typeface="Aptos"/>
              </a:rPr>
              <a:t>Entregable visible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90E2BE"/>
                </a:solidFill>
                <a:latin typeface="Aptos"/>
              </a:rPr>
              <a:t>ROVI × AMPI CDMX · Propuesta conceptual basada en información pública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90E2B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A1622"/>
                </a:solidFill>
                <a:latin typeface="Aptos"/>
              </a:rPr>
              <a:t>Cómo venderlo: mensaje correcto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71323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005F48"/>
                </a:solidFill>
                <a:latin typeface="Aptos"/>
              </a:rPr>
              <a:t>La clave es reducir resistencia y mostrar integración gradual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61872"/>
            <a:ext cx="52578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600200"/>
            <a:ext cx="18288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64B44"/>
                </a:solidFill>
                <a:latin typeface="Aptos"/>
              </a:rPr>
              <a:t>No decir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240280"/>
            <a:ext cx="2743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C64B44"/>
                </a:solidFill>
                <a:latin typeface="Aptos"/>
              </a:rP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2221992"/>
            <a:ext cx="3840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41C24"/>
                </a:solidFill>
                <a:latin typeface="Aptos"/>
              </a:rPr>
              <a:t>“Reemplacen su portal actual”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07208"/>
            <a:ext cx="2743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C64B44"/>
                </a:solidFill>
                <a:latin typeface="Aptos"/>
              </a:rPr>
              <a:t>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788920"/>
            <a:ext cx="3840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41C24"/>
                </a:solidFill>
                <a:latin typeface="Aptos"/>
              </a:rPr>
              <a:t>“Tiren Smart Manager / TSF”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374136"/>
            <a:ext cx="2743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C64B44"/>
                </a:solidFill>
                <a:latin typeface="Aptos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3355848"/>
            <a:ext cx="3840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41C24"/>
                </a:solidFill>
                <a:latin typeface="Aptos"/>
              </a:rPr>
              <a:t>“Migremos todo de golpe”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941064"/>
            <a:ext cx="2743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C64B44"/>
                </a:solidFill>
                <a:latin typeface="Aptos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3922776"/>
            <a:ext cx="3840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41C24"/>
                </a:solidFill>
                <a:latin typeface="Aptos"/>
              </a:rPr>
              <a:t>“Somos otro CRM”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261872"/>
            <a:ext cx="507492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1600200"/>
            <a:ext cx="18288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5F48"/>
                </a:solidFill>
                <a:latin typeface="Aptos"/>
              </a:rPr>
              <a:t>Decir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240280"/>
            <a:ext cx="2743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5F48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2221992"/>
            <a:ext cx="36576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41C24"/>
                </a:solidFill>
                <a:latin typeface="Aptos"/>
              </a:rPr>
              <a:t>“Conectamos lo que ya tienen”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807208"/>
            <a:ext cx="2743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5F48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4032" y="2788920"/>
            <a:ext cx="36576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41C24"/>
                </a:solidFill>
                <a:latin typeface="Aptos"/>
              </a:rPr>
              <a:t>“Empezamos por afiliación + eventos”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374136"/>
            <a:ext cx="2743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5F48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4032" y="3355848"/>
            <a:ext cx="36576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41C24"/>
                </a:solidFill>
                <a:latin typeface="Aptos"/>
              </a:rPr>
              <a:t>“Medimos valor para consejo y asociados”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941064"/>
            <a:ext cx="2743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5F48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3922776"/>
            <a:ext cx="36576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41C24"/>
                </a:solidFill>
                <a:latin typeface="Aptos"/>
              </a:rPr>
              <a:t>“ROVI es la capa operativa e inteligente”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06F7B"/>
                </a:solidFill>
                <a:latin typeface="Aptos"/>
              </a:rPr>
              <a:t>ROVI × AMPI CDMX · Propuesta conceptual basada en información pública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06F7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41148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90E2BE"/>
                </a:solidFill>
                <a:latin typeface="Aptos"/>
              </a:rPr>
              <a:t>Próximo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70432"/>
            <a:ext cx="768096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Crear una demo AMPI con marca real y 3 flujos vivos</a:t>
            </a:r>
          </a:p>
        </p:txBody>
      </p:sp>
      <p:sp>
        <p:nvSpPr>
          <p:cNvPr id="4" name="Oval 3"/>
          <p:cNvSpPr/>
          <p:nvPr/>
        </p:nvSpPr>
        <p:spPr>
          <a:xfrm>
            <a:off x="960120" y="2148840"/>
            <a:ext cx="420624" cy="420624"/>
          </a:xfrm>
          <a:prstGeom prst="ellipse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58568"/>
            <a:ext cx="420624" cy="1097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2167128"/>
            <a:ext cx="24231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Control Tower AMPI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3087" y="2167128"/>
            <a:ext cx="60350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90E2BE"/>
                </a:solidFill>
                <a:latin typeface="Aptos"/>
              </a:rPr>
              <a:t>KPIs directivos y operación del consejo.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2926080"/>
            <a:ext cx="420624" cy="420624"/>
          </a:xfrm>
          <a:prstGeom prst="ellipse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35808"/>
            <a:ext cx="420624" cy="1097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944368"/>
            <a:ext cx="24231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Pipeline de afiliación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3087" y="2944368"/>
            <a:ext cx="60350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90E2BE"/>
                </a:solidFill>
                <a:latin typeface="Aptos"/>
              </a:rPr>
              <a:t>Prospecto → documentos → revisión → pago → activo.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3703320"/>
            <a:ext cx="420624" cy="420624"/>
          </a:xfrm>
          <a:prstGeom prst="ellipse">
            <a:avLst/>
          </a:prstGeom>
          <a:solidFill>
            <a:srgbClr val="00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813048"/>
            <a:ext cx="420624" cy="1097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3721607"/>
            <a:ext cx="24231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Evento AMPI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3087" y="3721607"/>
            <a:ext cx="60350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90E2BE"/>
                </a:solidFill>
                <a:latin typeface="Aptos"/>
              </a:rPr>
              <a:t>Registro, pago, asistencia, constancia y reporte.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4480560"/>
            <a:ext cx="420624" cy="420624"/>
          </a:xfrm>
          <a:prstGeom prst="ellipse">
            <a:avLst/>
          </a:prstGeom>
          <a:solidFill>
            <a:srgbClr val="DCA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590288"/>
            <a:ext cx="420624" cy="1097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498848"/>
            <a:ext cx="24231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Mensaje de acercamiento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3087" y="4498848"/>
            <a:ext cx="60350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90E2BE"/>
                </a:solidFill>
                <a:latin typeface="Aptos"/>
              </a:rPr>
              <a:t>Pitch breve + reunión de diagnóstico operativo.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806440"/>
            <a:ext cx="10835640" cy="502920"/>
          </a:xfrm>
          <a:prstGeom prst="roundRect">
            <a:avLst/>
          </a:prstGeom>
          <a:solidFill>
            <a:srgbClr val="00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5897880"/>
            <a:ext cx="99212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ptos"/>
              </a:rPr>
              <a:t>Objetivo: conseguir reunión mostrando que ROVI no reemplaza: ordena, mide y monetiza el ecosistema AMPI.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90E2BE"/>
                </a:solidFill>
                <a:latin typeface="Aptos"/>
              </a:rPr>
              <a:t>ROVI × AMPI CDMX · Propuesta conceptual basada en información pública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90E2BE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ROVI AMPI CDMX Pitch Deck</dc:title>
  <dc:subject>Propuesta ROVI para AMPI CDMX basada en análisis público</dc:subject>
  <dc:creator>Hermes / SoftvibesLab</dc:creator>
  <cp:keywords/>
  <dc:description>Documento conceptual; datos públicos observados en ampicdmx.org y portales enlazados.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